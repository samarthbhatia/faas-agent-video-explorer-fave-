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80" r:id="rId32"/>
    <p:sldId id="281" r:id="rId33"/>
    <p:sldId id="282" r:id="rId34"/>
    <p:sldId id="283" r:id="rId35"/>
    <p:sldId id="279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59EBA3-E57A-DC9B-C524-E2B2A893D4D6}" v="253" dt="2026-03-11T11:35:20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Relationship Id="rId31" Type="http://schemas.microsoft.com/office/2015/10/relationships/revisionInfo" Target="revisionInfo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arth Bhatia" userId="S::11059097@polimi.it::7bc5082c-0848-4365-906d-b0a6515f4e4b" providerId="AD" clId="Web-{F059EBA3-E57A-DC9B-C524-E2B2A893D4D6}"/>
    <pc:docChg chg="delSld modSld">
      <pc:chgData name="Samarth Bhatia" userId="S::11059097@polimi.it::7bc5082c-0848-4365-906d-b0a6515f4e4b" providerId="AD" clId="Web-{F059EBA3-E57A-DC9B-C524-E2B2A893D4D6}" dt="2026-03-11T11:35:20.955" v="240" actId="1076"/>
      <pc:docMkLst>
        <pc:docMk/>
      </pc:docMkLst>
      <pc:sldChg chg="modSp">
        <pc:chgData name="Samarth Bhatia" userId="S::11059097@polimi.it::7bc5082c-0848-4365-906d-b0a6515f4e4b" providerId="AD" clId="Web-{F059EBA3-E57A-DC9B-C524-E2B2A893D4D6}" dt="2026-03-11T11:20:47.142" v="12" actId="1076"/>
        <pc:sldMkLst>
          <pc:docMk/>
          <pc:sldMk cId="0" sldId="266"/>
        </pc:sldMkLst>
        <pc:spChg chg="mod">
          <ac:chgData name="Samarth Bhatia" userId="S::11059097@polimi.it::7bc5082c-0848-4365-906d-b0a6515f4e4b" providerId="AD" clId="Web-{F059EBA3-E57A-DC9B-C524-E2B2A893D4D6}" dt="2026-03-11T11:20:33.657" v="1" actId="14100"/>
          <ac:spMkLst>
            <pc:docMk/>
            <pc:sldMk cId="0" sldId="266"/>
            <ac:spMk id="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0:29.595" v="0" actId="14100"/>
          <ac:spMkLst>
            <pc:docMk/>
            <pc:sldMk cId="0" sldId="266"/>
            <ac:spMk id="6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0:38.907" v="2" actId="14100"/>
          <ac:spMkLst>
            <pc:docMk/>
            <pc:sldMk cId="0" sldId="266"/>
            <ac:spMk id="7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0:47.033" v="3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0:47.033" v="4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0:47.048" v="5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0:47.064" v="6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0:47.079" v="7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0:47.079" v="8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0:47.095" v="9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0:47.111" v="10" actId="107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0:47.126" v="11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0:47.142" v="12" actId="1076"/>
          <ac:spMkLst>
            <pc:docMk/>
            <pc:sldMk cId="0" sldId="266"/>
            <ac:spMk id="18" creationId="{00000000-0000-0000-0000-000000000000}"/>
          </ac:spMkLst>
        </pc:spChg>
      </pc:sldChg>
      <pc:sldChg chg="modSp">
        <pc:chgData name="Samarth Bhatia" userId="S::11059097@polimi.it::7bc5082c-0848-4365-906d-b0a6515f4e4b" providerId="AD" clId="Web-{F059EBA3-E57A-DC9B-C524-E2B2A893D4D6}" dt="2026-03-11T11:21:02.705" v="14" actId="1076"/>
        <pc:sldMkLst>
          <pc:docMk/>
          <pc:sldMk cId="0" sldId="267"/>
        </pc:sldMkLst>
        <pc:spChg chg="mod">
          <ac:chgData name="Samarth Bhatia" userId="S::11059097@polimi.it::7bc5082c-0848-4365-906d-b0a6515f4e4b" providerId="AD" clId="Web-{F059EBA3-E57A-DC9B-C524-E2B2A893D4D6}" dt="2026-03-11T11:20:57.345" v="13"/>
          <ac:spMkLst>
            <pc:docMk/>
            <pc:sldMk cId="0" sldId="267"/>
            <ac:spMk id="2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02.705" v="14" actId="1076"/>
          <ac:spMkLst>
            <pc:docMk/>
            <pc:sldMk cId="0" sldId="267"/>
            <ac:spMk id="11" creationId="{00000000-0000-0000-0000-000000000000}"/>
          </ac:spMkLst>
        </pc:spChg>
      </pc:sldChg>
      <pc:sldChg chg="modSp">
        <pc:chgData name="Samarth Bhatia" userId="S::11059097@polimi.it::7bc5082c-0848-4365-906d-b0a6515f4e4b" providerId="AD" clId="Web-{F059EBA3-E57A-DC9B-C524-E2B2A893D4D6}" dt="2026-03-11T11:21:19.783" v="15"/>
        <pc:sldMkLst>
          <pc:docMk/>
          <pc:sldMk cId="0" sldId="268"/>
        </pc:sldMkLst>
        <pc:spChg chg="mod">
          <ac:chgData name="Samarth Bhatia" userId="S::11059097@polimi.it::7bc5082c-0848-4365-906d-b0a6515f4e4b" providerId="AD" clId="Web-{F059EBA3-E57A-DC9B-C524-E2B2A893D4D6}" dt="2026-03-11T11:21:19.783" v="15"/>
          <ac:spMkLst>
            <pc:docMk/>
            <pc:sldMk cId="0" sldId="268"/>
            <ac:spMk id="2" creationId="{00000000-0000-0000-0000-000000000000}"/>
          </ac:spMkLst>
        </pc:spChg>
      </pc:sldChg>
      <pc:sldChg chg="modSp">
        <pc:chgData name="Samarth Bhatia" userId="S::11059097@polimi.it::7bc5082c-0848-4365-906d-b0a6515f4e4b" providerId="AD" clId="Web-{F059EBA3-E57A-DC9B-C524-E2B2A893D4D6}" dt="2026-03-11T11:22:06.784" v="47"/>
        <pc:sldMkLst>
          <pc:docMk/>
          <pc:sldMk cId="0" sldId="269"/>
        </pc:sldMkLst>
        <pc:spChg chg="mod">
          <ac:chgData name="Samarth Bhatia" userId="S::11059097@polimi.it::7bc5082c-0848-4365-906d-b0a6515f4e4b" providerId="AD" clId="Web-{F059EBA3-E57A-DC9B-C524-E2B2A893D4D6}" dt="2026-03-11T11:21:29.643" v="16"/>
          <ac:spMkLst>
            <pc:docMk/>
            <pc:sldMk cId="0" sldId="269"/>
            <ac:spMk id="2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033" v="17" actId="1076"/>
          <ac:spMkLst>
            <pc:docMk/>
            <pc:sldMk cId="0" sldId="269"/>
            <ac:spMk id="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049" v="18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065" v="19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080" v="20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096" v="21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111" v="22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127" v="23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143" v="24" actId="107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174" v="25" actId="107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174" v="26" actId="107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205" v="27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223" v="28" actId="107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236" v="29" actId="107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268" v="30" actId="107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283" v="31" actId="107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299" v="32" actId="107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315" v="33" actId="1076"/>
          <ac:spMkLst>
            <pc:docMk/>
            <pc:sldMk cId="0" sldId="269"/>
            <ac:spMk id="21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330" v="34" actId="1076"/>
          <ac:spMkLst>
            <pc:docMk/>
            <pc:sldMk cId="0" sldId="269"/>
            <ac:spMk id="22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346" v="35" actId="1076"/>
          <ac:spMkLst>
            <pc:docMk/>
            <pc:sldMk cId="0" sldId="269"/>
            <ac:spMk id="23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362" v="36" actId="1076"/>
          <ac:spMkLst>
            <pc:docMk/>
            <pc:sldMk cId="0" sldId="269"/>
            <ac:spMk id="24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377" v="37" actId="1076"/>
          <ac:spMkLst>
            <pc:docMk/>
            <pc:sldMk cId="0" sldId="269"/>
            <ac:spMk id="2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393" v="38" actId="1076"/>
          <ac:spMkLst>
            <pc:docMk/>
            <pc:sldMk cId="0" sldId="269"/>
            <ac:spMk id="26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43.408" v="39" actId="1076"/>
          <ac:spMkLst>
            <pc:docMk/>
            <pc:sldMk cId="0" sldId="269"/>
            <ac:spMk id="27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1:52.768" v="42" actId="14100"/>
          <ac:spMkLst>
            <pc:docMk/>
            <pc:sldMk cId="0" sldId="269"/>
            <ac:spMk id="28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06.784" v="47"/>
          <ac:spMkLst>
            <pc:docMk/>
            <pc:sldMk cId="0" sldId="269"/>
            <ac:spMk id="29" creationId="{00000000-0000-0000-0000-000000000000}"/>
          </ac:spMkLst>
        </pc:spChg>
      </pc:sldChg>
      <pc:sldChg chg="modSp">
        <pc:chgData name="Samarth Bhatia" userId="S::11059097@polimi.it::7bc5082c-0848-4365-906d-b0a6515f4e4b" providerId="AD" clId="Web-{F059EBA3-E57A-DC9B-C524-E2B2A893D4D6}" dt="2026-03-11T11:22:26.051" v="62" actId="1076"/>
        <pc:sldMkLst>
          <pc:docMk/>
          <pc:sldMk cId="0" sldId="270"/>
        </pc:sldMkLst>
        <pc:spChg chg="mod">
          <ac:chgData name="Samarth Bhatia" userId="S::11059097@polimi.it::7bc5082c-0848-4365-906d-b0a6515f4e4b" providerId="AD" clId="Web-{F059EBA3-E57A-DC9B-C524-E2B2A893D4D6}" dt="2026-03-11T11:22:16.925" v="48"/>
          <ac:spMkLst>
            <pc:docMk/>
            <pc:sldMk cId="0" sldId="270"/>
            <ac:spMk id="2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21.957" v="49" actId="1076"/>
          <ac:spMkLst>
            <pc:docMk/>
            <pc:sldMk cId="0" sldId="270"/>
            <ac:spMk id="4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21.972" v="50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22.003" v="51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22.019" v="52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22.035" v="53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22.050" v="54" actId="1076"/>
          <ac:spMkLst>
            <pc:docMk/>
            <pc:sldMk cId="0" sldId="270"/>
            <ac:spMk id="9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22.066" v="55" actId="107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22.082" v="56" actId="107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22.097" v="57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22.113" v="58" actId="107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22.128" v="59" actId="107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22.144" v="60" actId="107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26.051" v="62" actId="1076"/>
          <ac:spMkLst>
            <pc:docMk/>
            <pc:sldMk cId="0" sldId="270"/>
            <ac:spMk id="16" creationId="{00000000-0000-0000-0000-000000000000}"/>
          </ac:spMkLst>
        </pc:spChg>
      </pc:sldChg>
      <pc:sldChg chg="modSp">
        <pc:chgData name="Samarth Bhatia" userId="S::11059097@polimi.it::7bc5082c-0848-4365-906d-b0a6515f4e4b" providerId="AD" clId="Web-{F059EBA3-E57A-DC9B-C524-E2B2A893D4D6}" dt="2026-03-11T11:22:36.161" v="63"/>
        <pc:sldMkLst>
          <pc:docMk/>
          <pc:sldMk cId="0" sldId="271"/>
        </pc:sldMkLst>
        <pc:spChg chg="mod">
          <ac:chgData name="Samarth Bhatia" userId="S::11059097@polimi.it::7bc5082c-0848-4365-906d-b0a6515f4e4b" providerId="AD" clId="Web-{F059EBA3-E57A-DC9B-C524-E2B2A893D4D6}" dt="2026-03-11T11:22:36.161" v="63"/>
          <ac:spMkLst>
            <pc:docMk/>
            <pc:sldMk cId="0" sldId="271"/>
            <ac:spMk id="2" creationId="{00000000-0000-0000-0000-000000000000}"/>
          </ac:spMkLst>
        </pc:spChg>
      </pc:sldChg>
      <pc:sldChg chg="modSp">
        <pc:chgData name="Samarth Bhatia" userId="S::11059097@polimi.it::7bc5082c-0848-4365-906d-b0a6515f4e4b" providerId="AD" clId="Web-{F059EBA3-E57A-DC9B-C524-E2B2A893D4D6}" dt="2026-03-11T11:22:54.071" v="70" actId="1076"/>
        <pc:sldMkLst>
          <pc:docMk/>
          <pc:sldMk cId="0" sldId="272"/>
        </pc:sldMkLst>
        <pc:spChg chg="mod">
          <ac:chgData name="Samarth Bhatia" userId="S::11059097@polimi.it::7bc5082c-0848-4365-906d-b0a6515f4e4b" providerId="AD" clId="Web-{F059EBA3-E57A-DC9B-C524-E2B2A893D4D6}" dt="2026-03-11T11:22:53.975" v="64" actId="10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53.991" v="65" actId="1076"/>
          <ac:spMkLst>
            <pc:docMk/>
            <pc:sldMk cId="0" sldId="272"/>
            <ac:spMk id="6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54.006" v="66" actId="1076"/>
          <ac:spMkLst>
            <pc:docMk/>
            <pc:sldMk cId="0" sldId="272"/>
            <ac:spMk id="7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54.022" v="67" actId="1076"/>
          <ac:spMkLst>
            <pc:docMk/>
            <pc:sldMk cId="0" sldId="272"/>
            <ac:spMk id="8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54.038" v="68" actId="1076"/>
          <ac:spMkLst>
            <pc:docMk/>
            <pc:sldMk cId="0" sldId="272"/>
            <ac:spMk id="9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54.053" v="69" actId="107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2:54.071" v="70" actId="1076"/>
          <ac:spMkLst>
            <pc:docMk/>
            <pc:sldMk cId="0" sldId="272"/>
            <ac:spMk id="11" creationId="{00000000-0000-0000-0000-000000000000}"/>
          </ac:spMkLst>
        </pc:spChg>
      </pc:sldChg>
      <pc:sldChg chg="modSp">
        <pc:chgData name="Samarth Bhatia" userId="S::11059097@polimi.it::7bc5082c-0848-4365-906d-b0a6515f4e4b" providerId="AD" clId="Web-{F059EBA3-E57A-DC9B-C524-E2B2A893D4D6}" dt="2026-03-11T11:23:09.007" v="91" actId="1076"/>
        <pc:sldMkLst>
          <pc:docMk/>
          <pc:sldMk cId="0" sldId="273"/>
        </pc:sldMkLst>
        <pc:spChg chg="mod">
          <ac:chgData name="Samarth Bhatia" userId="S::11059097@polimi.it::7bc5082c-0848-4365-906d-b0a6515f4e4b" providerId="AD" clId="Web-{F059EBA3-E57A-DC9B-C524-E2B2A893D4D6}" dt="2026-03-11T11:23:08.867" v="80" actId="1076"/>
          <ac:spMkLst>
            <pc:docMk/>
            <pc:sldMk cId="0" sldId="273"/>
            <ac:spMk id="2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08.883" v="81" actId="1076"/>
          <ac:spMkLst>
            <pc:docMk/>
            <pc:sldMk cId="0" sldId="273"/>
            <ac:spMk id="3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08.898" v="82" actId="1076"/>
          <ac:spMkLst>
            <pc:docMk/>
            <pc:sldMk cId="0" sldId="273"/>
            <ac:spMk id="4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08.898" v="83" actId="1076"/>
          <ac:spMkLst>
            <pc:docMk/>
            <pc:sldMk cId="0" sldId="273"/>
            <ac:spMk id="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08.929" v="84" actId="1076"/>
          <ac:spMkLst>
            <pc:docMk/>
            <pc:sldMk cId="0" sldId="273"/>
            <ac:spMk id="6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08.945" v="85" actId="1076"/>
          <ac:spMkLst>
            <pc:docMk/>
            <pc:sldMk cId="0" sldId="273"/>
            <ac:spMk id="7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08.961" v="86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08.961" v="87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08.976" v="88" actId="107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08.992" v="89" actId="107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09.007" v="90" actId="107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09.007" v="91" actId="1076"/>
          <ac:spMkLst>
            <pc:docMk/>
            <pc:sldMk cId="0" sldId="273"/>
            <ac:spMk id="13" creationId="{00000000-0000-0000-0000-000000000000}"/>
          </ac:spMkLst>
        </pc:spChg>
      </pc:sldChg>
      <pc:sldChg chg="del">
        <pc:chgData name="Samarth Bhatia" userId="S::11059097@polimi.it::7bc5082c-0848-4365-906d-b0a6515f4e4b" providerId="AD" clId="Web-{F059EBA3-E57A-DC9B-C524-E2B2A893D4D6}" dt="2026-03-11T11:23:29.681" v="92"/>
        <pc:sldMkLst>
          <pc:docMk/>
          <pc:sldMk cId="0" sldId="274"/>
        </pc:sldMkLst>
      </pc:sldChg>
      <pc:sldChg chg="modSp">
        <pc:chgData name="Samarth Bhatia" userId="S::11059097@polimi.it::7bc5082c-0848-4365-906d-b0a6515f4e4b" providerId="AD" clId="Web-{F059EBA3-E57A-DC9B-C524-E2B2A893D4D6}" dt="2026-03-11T11:23:43.870" v="110" actId="1076"/>
        <pc:sldMkLst>
          <pc:docMk/>
          <pc:sldMk cId="0" sldId="275"/>
        </pc:sldMkLst>
        <pc:spChg chg="mod">
          <ac:chgData name="Samarth Bhatia" userId="S::11059097@polimi.it::7bc5082c-0848-4365-906d-b0a6515f4e4b" providerId="AD" clId="Web-{F059EBA3-E57A-DC9B-C524-E2B2A893D4D6}" dt="2026-03-11T11:23:43.526" v="93" actId="1076"/>
          <ac:spMkLst>
            <pc:docMk/>
            <pc:sldMk cId="0" sldId="275"/>
            <ac:spMk id="2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43.542" v="94" actId="1076"/>
          <ac:spMkLst>
            <pc:docMk/>
            <pc:sldMk cId="0" sldId="275"/>
            <ac:spMk id="3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43.573" v="95" actId="1076"/>
          <ac:spMkLst>
            <pc:docMk/>
            <pc:sldMk cId="0" sldId="275"/>
            <ac:spMk id="4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43.588" v="96" actId="1076"/>
          <ac:spMkLst>
            <pc:docMk/>
            <pc:sldMk cId="0" sldId="275"/>
            <ac:spMk id="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43.619" v="97" actId="1076"/>
          <ac:spMkLst>
            <pc:docMk/>
            <pc:sldMk cId="0" sldId="275"/>
            <ac:spMk id="6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43.635" v="98" actId="1076"/>
          <ac:spMkLst>
            <pc:docMk/>
            <pc:sldMk cId="0" sldId="275"/>
            <ac:spMk id="7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43.651" v="99" actId="1076"/>
          <ac:spMkLst>
            <pc:docMk/>
            <pc:sldMk cId="0" sldId="275"/>
            <ac:spMk id="8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43.682" v="100" actId="1076"/>
          <ac:spMkLst>
            <pc:docMk/>
            <pc:sldMk cId="0" sldId="275"/>
            <ac:spMk id="9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43.698" v="101" actId="107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43.713" v="102" actId="107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43.744" v="103" actId="107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43.760" v="104" actId="1076"/>
          <ac:spMkLst>
            <pc:docMk/>
            <pc:sldMk cId="0" sldId="275"/>
            <ac:spMk id="13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43.776" v="105" actId="1076"/>
          <ac:spMkLst>
            <pc:docMk/>
            <pc:sldMk cId="0" sldId="275"/>
            <ac:spMk id="14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43.791" v="106" actId="1076"/>
          <ac:spMkLst>
            <pc:docMk/>
            <pc:sldMk cId="0" sldId="275"/>
            <ac:spMk id="1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43.807" v="107" actId="1076"/>
          <ac:spMkLst>
            <pc:docMk/>
            <pc:sldMk cId="0" sldId="275"/>
            <ac:spMk id="16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43.823" v="108" actId="1076"/>
          <ac:spMkLst>
            <pc:docMk/>
            <pc:sldMk cId="0" sldId="275"/>
            <ac:spMk id="17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43.854" v="109" actId="1076"/>
          <ac:spMkLst>
            <pc:docMk/>
            <pc:sldMk cId="0" sldId="275"/>
            <ac:spMk id="18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43.870" v="110" actId="1076"/>
          <ac:spMkLst>
            <pc:docMk/>
            <pc:sldMk cId="0" sldId="275"/>
            <ac:spMk id="19" creationId="{00000000-0000-0000-0000-000000000000}"/>
          </ac:spMkLst>
        </pc:spChg>
      </pc:sldChg>
      <pc:sldChg chg="modSp">
        <pc:chgData name="Samarth Bhatia" userId="S::11059097@polimi.it::7bc5082c-0848-4365-906d-b0a6515f4e4b" providerId="AD" clId="Web-{F059EBA3-E57A-DC9B-C524-E2B2A893D4D6}" dt="2026-03-11T11:24:46.155" v="159" actId="20577"/>
        <pc:sldMkLst>
          <pc:docMk/>
          <pc:sldMk cId="0" sldId="276"/>
        </pc:sldMkLst>
        <pc:spChg chg="mod">
          <ac:chgData name="Samarth Bhatia" userId="S::11059097@polimi.it::7bc5082c-0848-4365-906d-b0a6515f4e4b" providerId="AD" clId="Web-{F059EBA3-E57A-DC9B-C524-E2B2A893D4D6}" dt="2026-03-11T11:24:07.433" v="133" actId="1076"/>
          <ac:spMkLst>
            <pc:docMk/>
            <pc:sldMk cId="0" sldId="276"/>
            <ac:spMk id="2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53.339" v="112" actId="1076"/>
          <ac:spMkLst>
            <pc:docMk/>
            <pc:sldMk cId="0" sldId="276"/>
            <ac:spMk id="3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3:53.370" v="113" actId="1076"/>
          <ac:spMkLst>
            <pc:docMk/>
            <pc:sldMk cId="0" sldId="276"/>
            <ac:spMk id="4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4:18.184" v="134" actId="1076"/>
          <ac:spMkLst>
            <pc:docMk/>
            <pc:sldMk cId="0" sldId="276"/>
            <ac:spMk id="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4:36.076" v="155" actId="20577"/>
          <ac:spMkLst>
            <pc:docMk/>
            <pc:sldMk cId="0" sldId="276"/>
            <ac:spMk id="6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4:18.215" v="136" actId="1076"/>
          <ac:spMkLst>
            <pc:docMk/>
            <pc:sldMk cId="0" sldId="276"/>
            <ac:spMk id="7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4:40.060" v="157" actId="20577"/>
          <ac:spMkLst>
            <pc:docMk/>
            <pc:sldMk cId="0" sldId="276"/>
            <ac:spMk id="8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4:18.262" v="138" actId="1076"/>
          <ac:spMkLst>
            <pc:docMk/>
            <pc:sldMk cId="0" sldId="276"/>
            <ac:spMk id="9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4:31.888" v="153" actId="107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4:18.325" v="140" actId="1076"/>
          <ac:spMkLst>
            <pc:docMk/>
            <pc:sldMk cId="0" sldId="276"/>
            <ac:spMk id="11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4:46.155" v="159" actId="20577"/>
          <ac:spMkLst>
            <pc:docMk/>
            <pc:sldMk cId="0" sldId="276"/>
            <ac:spMk id="12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4:18.372" v="142" actId="1076"/>
          <ac:spMkLst>
            <pc:docMk/>
            <pc:sldMk cId="0" sldId="276"/>
            <ac:spMk id="13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4:18.387" v="143" actId="1076"/>
          <ac:spMkLst>
            <pc:docMk/>
            <pc:sldMk cId="0" sldId="276"/>
            <ac:spMk id="14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4:18.403" v="144" actId="1076"/>
          <ac:spMkLst>
            <pc:docMk/>
            <pc:sldMk cId="0" sldId="276"/>
            <ac:spMk id="1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4:18.419" v="145" actId="1076"/>
          <ac:spMkLst>
            <pc:docMk/>
            <pc:sldMk cId="0" sldId="276"/>
            <ac:spMk id="16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4:18.434" v="146" actId="1076"/>
          <ac:spMkLst>
            <pc:docMk/>
            <pc:sldMk cId="0" sldId="276"/>
            <ac:spMk id="17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4:18.450" v="147" actId="1076"/>
          <ac:spMkLst>
            <pc:docMk/>
            <pc:sldMk cId="0" sldId="276"/>
            <ac:spMk id="18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4:18.465" v="148" actId="1076"/>
          <ac:spMkLst>
            <pc:docMk/>
            <pc:sldMk cId="0" sldId="276"/>
            <ac:spMk id="19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4:18.481" v="149" actId="1076"/>
          <ac:spMkLst>
            <pc:docMk/>
            <pc:sldMk cId="0" sldId="276"/>
            <ac:spMk id="20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4:18.497" v="150" actId="1076"/>
          <ac:spMkLst>
            <pc:docMk/>
            <pc:sldMk cId="0" sldId="276"/>
            <ac:spMk id="21" creationId="{00000000-0000-0000-0000-000000000000}"/>
          </ac:spMkLst>
        </pc:spChg>
      </pc:sldChg>
      <pc:sldChg chg="delSp modSp">
        <pc:chgData name="Samarth Bhatia" userId="S::11059097@polimi.it::7bc5082c-0848-4365-906d-b0a6515f4e4b" providerId="AD" clId="Web-{F059EBA3-E57A-DC9B-C524-E2B2A893D4D6}" dt="2026-03-11T11:25:27.829" v="180"/>
        <pc:sldMkLst>
          <pc:docMk/>
          <pc:sldMk cId="0" sldId="277"/>
        </pc:sldMkLst>
        <pc:spChg chg="mod">
          <ac:chgData name="Samarth Bhatia" userId="S::11059097@polimi.it::7bc5082c-0848-4365-906d-b0a6515f4e4b" providerId="AD" clId="Web-{F059EBA3-E57A-DC9B-C524-E2B2A893D4D6}" dt="2026-03-11T11:24:55.030" v="160"/>
          <ac:spMkLst>
            <pc:docMk/>
            <pc:sldMk cId="0" sldId="277"/>
            <ac:spMk id="2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05.687" v="168" actId="1076"/>
          <ac:spMkLst>
            <pc:docMk/>
            <pc:sldMk cId="0" sldId="277"/>
            <ac:spMk id="3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10.047" v="169" actId="1076"/>
          <ac:spMkLst>
            <pc:docMk/>
            <pc:sldMk cId="0" sldId="277"/>
            <ac:spMk id="4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10.063" v="170" actId="1076"/>
          <ac:spMkLst>
            <pc:docMk/>
            <pc:sldMk cId="0" sldId="277"/>
            <ac:spMk id="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10.078" v="171" actId="1076"/>
          <ac:spMkLst>
            <pc:docMk/>
            <pc:sldMk cId="0" sldId="277"/>
            <ac:spMk id="6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10.094" v="172" actId="1076"/>
          <ac:spMkLst>
            <pc:docMk/>
            <pc:sldMk cId="0" sldId="277"/>
            <ac:spMk id="7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10.109" v="173" actId="1076"/>
          <ac:spMkLst>
            <pc:docMk/>
            <pc:sldMk cId="0" sldId="277"/>
            <ac:spMk id="8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10.125" v="174" actId="1076"/>
          <ac:spMkLst>
            <pc:docMk/>
            <pc:sldMk cId="0" sldId="277"/>
            <ac:spMk id="9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10.140" v="175" actId="1076"/>
          <ac:spMkLst>
            <pc:docMk/>
            <pc:sldMk cId="0" sldId="277"/>
            <ac:spMk id="10" creationId="{00000000-0000-0000-0000-000000000000}"/>
          </ac:spMkLst>
        </pc:spChg>
        <pc:spChg chg="del mod">
          <ac:chgData name="Samarth Bhatia" userId="S::11059097@polimi.it::7bc5082c-0848-4365-906d-b0a6515f4e4b" providerId="AD" clId="Web-{F059EBA3-E57A-DC9B-C524-E2B2A893D4D6}" dt="2026-03-11T11:25:27.829" v="180"/>
          <ac:spMkLst>
            <pc:docMk/>
            <pc:sldMk cId="0" sldId="277"/>
            <ac:spMk id="11" creationId="{00000000-0000-0000-0000-000000000000}"/>
          </ac:spMkLst>
        </pc:spChg>
      </pc:sldChg>
      <pc:sldChg chg="modSp">
        <pc:chgData name="Samarth Bhatia" userId="S::11059097@polimi.it::7bc5082c-0848-4365-906d-b0a6515f4e4b" providerId="AD" clId="Web-{F059EBA3-E57A-DC9B-C524-E2B2A893D4D6}" dt="2026-03-11T11:26:11.471" v="226" actId="20577"/>
        <pc:sldMkLst>
          <pc:docMk/>
          <pc:sldMk cId="0" sldId="278"/>
        </pc:sldMkLst>
        <pc:spChg chg="mod">
          <ac:chgData name="Samarth Bhatia" userId="S::11059097@polimi.it::7bc5082c-0848-4365-906d-b0a6515f4e4b" providerId="AD" clId="Web-{F059EBA3-E57A-DC9B-C524-E2B2A893D4D6}" dt="2026-03-11T11:25:54.331" v="208"/>
          <ac:spMkLst>
            <pc:docMk/>
            <pc:sldMk cId="0" sldId="278"/>
            <ac:spMk id="2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59.033" v="209" actId="1076"/>
          <ac:spMkLst>
            <pc:docMk/>
            <pc:sldMk cId="0" sldId="278"/>
            <ac:spMk id="4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59.049" v="210" actId="1076"/>
          <ac:spMkLst>
            <pc:docMk/>
            <pc:sldMk cId="0" sldId="278"/>
            <ac:spMk id="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59.065" v="211" actId="1076"/>
          <ac:spMkLst>
            <pc:docMk/>
            <pc:sldMk cId="0" sldId="278"/>
            <ac:spMk id="6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59.096" v="212" actId="1076"/>
          <ac:spMkLst>
            <pc:docMk/>
            <pc:sldMk cId="0" sldId="278"/>
            <ac:spMk id="7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59.112" v="213" actId="1076"/>
          <ac:spMkLst>
            <pc:docMk/>
            <pc:sldMk cId="0" sldId="278"/>
            <ac:spMk id="8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59.143" v="214" actId="1076"/>
          <ac:spMkLst>
            <pc:docMk/>
            <pc:sldMk cId="0" sldId="278"/>
            <ac:spMk id="9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59.158" v="215" actId="1076"/>
          <ac:spMkLst>
            <pc:docMk/>
            <pc:sldMk cId="0" sldId="278"/>
            <ac:spMk id="10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59.174" v="216" actId="107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59.190" v="217" actId="1076"/>
          <ac:spMkLst>
            <pc:docMk/>
            <pc:sldMk cId="0" sldId="278"/>
            <ac:spMk id="12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59.221" v="218" actId="1076"/>
          <ac:spMkLst>
            <pc:docMk/>
            <pc:sldMk cId="0" sldId="278"/>
            <ac:spMk id="13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59.252" v="219" actId="1076"/>
          <ac:spMkLst>
            <pc:docMk/>
            <pc:sldMk cId="0" sldId="278"/>
            <ac:spMk id="14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59.268" v="220" actId="1076"/>
          <ac:spMkLst>
            <pc:docMk/>
            <pc:sldMk cId="0" sldId="278"/>
            <ac:spMk id="1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59.299" v="221" actId="1076"/>
          <ac:spMkLst>
            <pc:docMk/>
            <pc:sldMk cId="0" sldId="278"/>
            <ac:spMk id="16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5:59.315" v="222" actId="1076"/>
          <ac:spMkLst>
            <pc:docMk/>
            <pc:sldMk cId="0" sldId="278"/>
            <ac:spMk id="17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6:11.471" v="226" actId="20577"/>
          <ac:spMkLst>
            <pc:docMk/>
            <pc:sldMk cId="0" sldId="278"/>
            <ac:spMk id="18" creationId="{00000000-0000-0000-0000-000000000000}"/>
          </ac:spMkLst>
        </pc:spChg>
      </pc:sldChg>
      <pc:sldChg chg="modSp">
        <pc:chgData name="Samarth Bhatia" userId="S::11059097@polimi.it::7bc5082c-0848-4365-906d-b0a6515f4e4b" providerId="AD" clId="Web-{F059EBA3-E57A-DC9B-C524-E2B2A893D4D6}" dt="2026-03-11T11:35:20.955" v="240" actId="1076"/>
        <pc:sldMkLst>
          <pc:docMk/>
          <pc:sldMk cId="0" sldId="279"/>
        </pc:sldMkLst>
        <pc:spChg chg="mod">
          <ac:chgData name="Samarth Bhatia" userId="S::11059097@polimi.it::7bc5082c-0848-4365-906d-b0a6515f4e4b" providerId="AD" clId="Web-{F059EBA3-E57A-DC9B-C524-E2B2A893D4D6}" dt="2026-03-11T11:26:20.175" v="227" actId="1076"/>
          <ac:spMkLst>
            <pc:docMk/>
            <pc:sldMk cId="0" sldId="279"/>
            <ac:spMk id="4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6:20.190" v="228" actId="1076"/>
          <ac:spMkLst>
            <pc:docMk/>
            <pc:sldMk cId="0" sldId="279"/>
            <ac:spMk id="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6:20.190" v="229" actId="1076"/>
          <ac:spMkLst>
            <pc:docMk/>
            <pc:sldMk cId="0" sldId="279"/>
            <ac:spMk id="6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6:20.206" v="230" actId="1076"/>
          <ac:spMkLst>
            <pc:docMk/>
            <pc:sldMk cId="0" sldId="279"/>
            <ac:spMk id="7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6:20.222" v="231" actId="1076"/>
          <ac:spMkLst>
            <pc:docMk/>
            <pc:sldMk cId="0" sldId="279"/>
            <ac:spMk id="8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6:20.237" v="232" actId="1076"/>
          <ac:spMkLst>
            <pc:docMk/>
            <pc:sldMk cId="0" sldId="279"/>
            <ac:spMk id="9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6:20.237" v="233" actId="1076"/>
          <ac:spMkLst>
            <pc:docMk/>
            <pc:sldMk cId="0" sldId="279"/>
            <ac:spMk id="10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6:20.253" v="234" actId="1076"/>
          <ac:spMkLst>
            <pc:docMk/>
            <pc:sldMk cId="0" sldId="279"/>
            <ac:spMk id="11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6:20.269" v="235" actId="107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6:20.284" v="236" actId="1076"/>
          <ac:spMkLst>
            <pc:docMk/>
            <pc:sldMk cId="0" sldId="279"/>
            <ac:spMk id="13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6:20.300" v="237" actId="1076"/>
          <ac:spMkLst>
            <pc:docMk/>
            <pc:sldMk cId="0" sldId="279"/>
            <ac:spMk id="14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26:20.315" v="238" actId="1076"/>
          <ac:spMkLst>
            <pc:docMk/>
            <pc:sldMk cId="0" sldId="279"/>
            <ac:spMk id="15" creationId="{00000000-0000-0000-0000-000000000000}"/>
          </ac:spMkLst>
        </pc:spChg>
        <pc:spChg chg="mod">
          <ac:chgData name="Samarth Bhatia" userId="S::11059097@polimi.it::7bc5082c-0848-4365-906d-b0a6515f4e4b" providerId="AD" clId="Web-{F059EBA3-E57A-DC9B-C524-E2B2A893D4D6}" dt="2026-03-11T11:35:20.955" v="240" actId="1076"/>
          <ac:spMkLst>
            <pc:docMk/>
            <pc:sldMk cId="0" sldId="279"/>
            <ac:spMk id="1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3A667-A11C-4F2F-B0FC-15E6D070A341}" type="datetimeFigureOut"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8B776B-1BA9-409F-84F8-C1B2456F61A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85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FAVE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FaaS-Agent Video Explorer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Video Processing Pipeline on OpenFaaS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Goal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Refactor VideoSearcher pipeline into a modular, serverless architecture using OpenFaaS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Key Features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8-stage pipeline (orchestrator + 7 processors)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Claim-check pattern with MinIO/S3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End-to-end video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0" y="1097280"/>
            <a:ext cx="3657600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100%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Success Rate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2286000"/>
            <a:ext cx="365760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2920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Pipeline Stages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3474720"/>
            <a:ext cx="36576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3611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26s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0292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Warm Latency (P50)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005840"/>
            <a:ext cx="338328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789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Orchestrator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3533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Coordinates workflow, manages state, invokes stages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0" cy="2743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1737360"/>
            <a:ext cx="338328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8105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ffmpeg-0: Audio Extraction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0848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Splits video into audio.wav + video.mp4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194560"/>
            <a:ext cx="0" cy="2743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2468880"/>
            <a:ext cx="338328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542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librosa: Speech Segmentation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8163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Detects speech, generates timestamps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2926080"/>
            <a:ext cx="0" cy="2743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3200400"/>
            <a:ext cx="338328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273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ffmpeg-1: Clip Cutting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35478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Cuts video into clips based on timestamps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0058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03520" y="1005840"/>
            <a:ext cx="338328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5394960" y="10789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ffmpeg-2: Compression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94960" y="13533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Compresses clips, extracts 16kHz audio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1463040"/>
            <a:ext cx="0" cy="2743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17373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03520" y="1737360"/>
            <a:ext cx="338328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5394960" y="18105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deepspeech: Transcription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94960" y="20848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Speech-to-text using DeepSpeech model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2194560"/>
            <a:ext cx="0" cy="2743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24688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303520" y="2468880"/>
            <a:ext cx="338328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1" name="Text 39"/>
          <p:cNvSpPr/>
          <p:nvPr/>
        </p:nvSpPr>
        <p:spPr>
          <a:xfrm>
            <a:off x="5394960" y="2542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ffmpeg-3: Frame Sampling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94960" y="28163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Extracts frames at 1 FPS for analysis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0" y="2926080"/>
            <a:ext cx="0" cy="2743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32004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303520" y="3200400"/>
            <a:ext cx="338328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7" name="Text 45"/>
          <p:cNvSpPr/>
          <p:nvPr/>
        </p:nvSpPr>
        <p:spPr>
          <a:xfrm>
            <a:off x="5394960" y="3273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object-detector: YOLO Detection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394960" y="35478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YOLOv4 detects objects in frames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 flipV="1">
            <a:off x="4310045" y="1166148"/>
            <a:ext cx="516721" cy="2386641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0" y="3931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Per-clip processing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Storage: s3://fave-artifacts/requests/{id}/{stage}/...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Claim-Check Pattern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❌ Traditional Approach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Passing large video/audio files between functions overwhelms HTTP gateway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43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Claim-Check Pattern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Exchange S3 URIs only, keep large files in storage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How It Works: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164592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 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Process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2834640"/>
            <a:ext cx="7315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3317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2C39A"/>
                </a:solidFill>
              </a:rPr>
              <a:t>Upload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2560320"/>
            <a:ext cx="256032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6334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S3 Storage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video.mp4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2834640"/>
            <a:ext cx="7315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3317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2C39A"/>
                </a:solidFill>
              </a:rPr>
              <a:t>Send URI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2560320"/>
            <a:ext cx="164592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 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80560" y="3246120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480560" y="3703320"/>
            <a:ext cx="2468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54880" y="37947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Download when needed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0" y="4389120"/>
            <a:ext cx="4572000" cy="3657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2468880" y="4434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URI: "s3://fave-artifacts/requests/abc123/stage-ffmpeg-0/video.mp4"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Benefits:  </a:t>
            </a:r>
            <a:r>
              <a:rPr lang="en-US" sz="1200" dirty="0">
                <a:solidFill>
                  <a:srgbClr val="FFFFFF"/>
                </a:solidFill>
              </a:rPr>
              <a:t>Prevents gateway overload  •  Enables parallel processing  •  Simplifies error recovery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Highlights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8872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Thread-Safe Runtime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ThreadingHTTPServer enables concurrent request handling within pods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Atomic Storage Operations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In-memory buffers (io.BytesIO) prevent race conditions in S3 uploads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93192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18872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Extended Timeouts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300s timeouts for media processing (Gateway, Queue Worker, Functions)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393192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🧩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48640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Modular Design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34290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Shared base image with common dependencies (ffmpeg, librosa, OpenCV)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Experimental Results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315200" cy="11734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Regime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Latency (P50)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Success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Cost Units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Warm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Baseline (1 req)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11-22s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5-10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Warm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Steady (5 concurrent)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26.0s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10.95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Cold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Burst (5 concurrent)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33.9s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14.75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33832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Key Findings: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Cold start penalty: +30% latency (26s → 34s), +35% cost (10.95 → 14.75 units)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Concurrent processing maintains consistent per-request latency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Most expensive stages: ffmpeg-2 (compression ~6.6 units) and librosa (1-5 units)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Questions Answered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11430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RQ1: How to decompose VideoSearcher for OpenFaaS?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Claim-check pattern with S3 URIs is essential. Fan-out parallelization reduces latency vs linear execution.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RQ2: Impact of min/max replicas and cold starts?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Cold start penalty is moderate (~30% latency). System handles concurrent cold starts without failures.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35204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RQ3: Latency-vs-cost trade-offs?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Cold starts impact both latency (+30%) and cost (+35%). Pre-warming critical stages recommended.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Challenges &amp; Solutions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7315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Timeout Failures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89120" y="1188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188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Extended all timeouts to 300s for media processing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840480" cy="7315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Race Conditions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21031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846320" y="2011680"/>
            <a:ext cx="384048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Migrated from /tmp files to in-memory io.BytesIO buffers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840480" cy="7315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17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Concurrency Limits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3017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384048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017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Implemented ThreadingHTTPServer for intra-pod parallelism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3840480" cy="7315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31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Memory Constraints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0" y="3931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846320" y="3840480"/>
            <a:ext cx="384048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931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Careful resource provisioning to prevent OOM kills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 &amp; Guidelines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1. Timeout Extensions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  Default serverless timeouts (30-60s) are insufficient for media pipelines. Minimum 300s recommended.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2. Atomic State Management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  Avoid local filesystem for state. Use in-memory buffers or atomic database transactions.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3. Resource Provisioning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  Media functions are memory-intensive. Define strict requests/limits to prevent OOM kills.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4. Pre-warming Strategy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  Critical stages (librosa, object-detector) should use min_replica &gt; 0 to mitigate initialization overhead.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Achievements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19202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100% Success Rate </a:t>
            </a:r>
            <a:r>
              <a:rPr lang="en-US" sz="1400" dirty="0">
                <a:solidFill>
                  <a:srgbClr val="FFFFFF"/>
                </a:solidFill>
              </a:rPr>
              <a:t>• Stable production-ready pipeline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2651760"/>
            <a:ext cx="64008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7432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8-Stage Architecture </a:t>
            </a:r>
            <a:r>
              <a:rPr lang="en-US" sz="1400" dirty="0">
                <a:solidFill>
                  <a:srgbClr val="FFFFFF"/>
                </a:solidFill>
              </a:rPr>
              <a:t>• Fully modular &amp; scalable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3474720"/>
            <a:ext cx="64008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35661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26s Warm Latency </a:t>
            </a:r>
            <a:r>
              <a:rPr lang="en-US" sz="1400" dirty="0">
                <a:solidFill>
                  <a:srgbClr val="FFFFFF"/>
                </a:solidFill>
              </a:rPr>
              <a:t>• Efficient concurrent processing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2C39A"/>
                </a:solidFill>
              </a:rPr>
              <a:t>Comprehensive solution for serverless video analysis at scale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28090"/>
                </a:solidFill>
                <a:latin typeface="Arial Black"/>
              </a:rPr>
              <a:t>Performance Optimizations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</a:rPr>
              <a:t>Iterative tuning across thread management, pipeline parallelism, and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97280" cy="3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657600" cy="1546156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640" y="1543040"/>
            <a:ext cx="3457600" cy="24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Before Optimization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• Uncontrolled thread spawning across stages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• Linear stage execution (one after another)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• ML models loaded on first request (slow)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• Single global lock serialized all requests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463040"/>
            <a:ext cx="3931920" cy="15428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72000" y="1543040"/>
            <a:ext cx="3731920" cy="24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After Optimization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• 2.4s single-request warm latency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• Targeted per-stage thread limits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• Parallel deepspeech + ffmpeg-3 execution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• Per-request locks, connection pooling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764" y="3270301"/>
            <a:ext cx="2560320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1764" y="3320301"/>
            <a:ext cx="25603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2.4s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764" y="3720301"/>
            <a:ext cx="25603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Single-Request Latency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6404" y="3270301"/>
            <a:ext cx="2560320" cy="10058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06404" y="3320301"/>
            <a:ext cx="25603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14.2s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6404" y="3720301"/>
            <a:ext cx="25603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5-Concurrent Avg (Warm)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1044" y="3270301"/>
            <a:ext cx="2286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41044" y="3320301"/>
            <a:ext cx="228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1044" y="3720301"/>
            <a:ext cx="228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Success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764" y="4459021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</a:rPr>
              <a:t>Single-node constraint: concurrent latency reflects CPU contention, not pipeline overhead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28090"/>
                </a:solidFill>
                <a:latin typeface="Arial Black"/>
              </a:rPr>
              <a:t>Optimization 1: Thread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</a:rPr>
              <a:t>5 pipelines x 8 stages = 40+ functions competing for CPU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97280" cy="3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560320" cy="29260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640" y="1543040"/>
            <a:ext cx="2360320" cy="28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Iteration 1: Global Limits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Set all thread variables to 2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Applied uniformly to every stage</a:t>
            </a:r>
          </a:p>
          <a:p>
            <a:pPr>
              <a:spcBef>
                <a:spcPts val="314"/>
              </a:spcBef>
            </a:pPr>
            <a:endParaRPr sz="1300" b="0">
              <a:solidFill>
                <a:srgbClr val="1E293B"/>
              </a:solidFill>
            </a:endParaRP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Reduced burst contention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but throttled lightweight stages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that run fine with more threads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463040"/>
            <a:ext cx="2560320" cy="29260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37560" y="1543040"/>
            <a:ext cx="2360320" cy="28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Iteration 2: Tuned to 4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Increased all thread limits to 4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Better warm/cold tradeoff</a:t>
            </a:r>
          </a:p>
          <a:p>
            <a:pPr>
              <a:spcBef>
                <a:spcPts val="314"/>
              </a:spcBef>
            </a:pPr>
            <a:endParaRPr sz="1300" b="0">
              <a:solidFill>
                <a:srgbClr val="1E293B"/>
              </a:solidFill>
            </a:endParaRP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Improvement overall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but uniform limits still hurt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fast stages unnecessarily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2560320" cy="2926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26480" y="1543040"/>
            <a:ext cx="2360320" cy="28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Iteration 3: Per-Stage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Heavy stages (ML): limit to 1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Lightweight stages: no limits</a:t>
            </a:r>
          </a:p>
          <a:p>
            <a:pPr>
              <a:spcBef>
                <a:spcPts val="314"/>
              </a:spcBef>
            </a:pPr>
            <a:endParaRPr sz="1300" b="0">
              <a:solidFill>
                <a:srgbClr val="FFFFFF"/>
              </a:solidFill>
            </a:endParaRP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Best balance achieved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Fast warm + stable bursts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Zero contention overhead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5053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65A82"/>
                </a:solidFill>
              </a:rPr>
              <a:t>Key Insight: Per-stage tuning outperforms blanket limits — lightweight stages run best unrestricted, heavy ML stages need strict limits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28090"/>
                </a:solidFill>
                <a:latin typeface="Arial Black"/>
              </a:rPr>
              <a:t>Optimization 2: Encoding Elimination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</a:rPr>
              <a:t>ffmpeg-2 (clip compression) was the single most expensive stage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97280" cy="3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377440" cy="27432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5760" y="1543040"/>
            <a:ext cx="2177440" cy="26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Original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Full H.264 re-encoding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3-6 seconds per clip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CPU-bound: motion estimation,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entropy coding, deblocking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~6.6 cost units per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28090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463040"/>
            <a:ext cx="2377440" cy="27432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00400" y="1543040"/>
            <a:ext cx="2177440" cy="26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Ultrafast Preset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Added fastest encoding preset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5-10x faster encoding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Skips motion estimation,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simple entropy coder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~20% larger output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2809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463040"/>
            <a:ext cx="2377440" cy="2743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35040" y="1543040"/>
            <a:ext cx="2177440" cy="26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Stream Copy (Final)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Skip encoding entirely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Milliseconds per clip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Just remux container format,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no CPU encoding at all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Near-zero cost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65A82"/>
                </a:solidFill>
              </a:rPr>
              <a:t>Biggest single optimization: eliminated the #1 cost driver entirely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28090"/>
                </a:solidFill>
                <a:latin typeface="Arial Black"/>
              </a:rPr>
              <a:t>Optimization 3: Stage Parallelization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</a:rPr>
              <a:t>Run independent stages concurrently instead of sequentially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97280" cy="3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5426" y="11998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Before (Sequential):</a:t>
            </a:r>
          </a:p>
        </p:txBody>
      </p:sp>
      <p:sp>
        <p:nvSpPr>
          <p:cNvPr id="6" name="Rectangle 5"/>
          <p:cNvSpPr/>
          <p:nvPr/>
        </p:nvSpPr>
        <p:spPr>
          <a:xfrm>
            <a:off x="535426" y="1657020"/>
            <a:ext cx="1645920" cy="6400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426" y="1737020"/>
            <a:ext cx="1445920" cy="5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93B"/>
                </a:solidFill>
              </a:rPr>
              <a:t>ffmpeg-2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1346" y="170273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5666" y="1657020"/>
            <a:ext cx="1645920" cy="6400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55666" y="1737020"/>
            <a:ext cx="1445920" cy="5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93B"/>
                </a:solidFill>
              </a:rPr>
              <a:t>deepspeech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1586" y="170273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5906" y="1657020"/>
            <a:ext cx="1645920" cy="6400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5906" y="1737020"/>
            <a:ext cx="1445920" cy="5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93B"/>
                </a:solidFill>
              </a:rPr>
              <a:t>ffmpeg-3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1826" y="170273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6146" y="1657020"/>
            <a:ext cx="1645920" cy="6400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96146" y="1737020"/>
            <a:ext cx="1445920" cy="5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93B"/>
                </a:solidFill>
              </a:rPr>
              <a:t>obj-detector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426" y="25714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After (Parallel):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5426" y="3028620"/>
            <a:ext cx="164592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426" y="3108620"/>
            <a:ext cx="1445920" cy="5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ffmpeg-2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81346" y="30743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47106" y="2754300"/>
            <a:ext cx="1645920" cy="640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47106" y="2834300"/>
            <a:ext cx="1445920" cy="5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deepspeech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47106" y="3485820"/>
            <a:ext cx="1645920" cy="640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47106" y="3565820"/>
            <a:ext cx="1445920" cy="5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ffmpeg-3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3026" y="30743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58786" y="3028620"/>
            <a:ext cx="164592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58786" y="3108620"/>
            <a:ext cx="1445920" cy="5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obj-detector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2571" y="4139246"/>
            <a:ext cx="6850733" cy="803272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9448" y="4219246"/>
            <a:ext cx="8375143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28090"/>
                </a:solidFill>
              </a:rPr>
              <a:t>Multi-Clip Parallelism</a:t>
            </a:r>
          </a:p>
          <a:p>
            <a:pPr>
              <a:spcBef>
                <a:spcPts val="314"/>
              </a:spcBef>
            </a:pPr>
            <a:r>
              <a:rPr sz="1200" b="0">
                <a:solidFill>
                  <a:srgbClr val="1E293B"/>
                </a:solidFill>
              </a:rPr>
              <a:t>Before: Clips processed one at a time sequentially (clip 0 → clip 1 → clip 2)</a:t>
            </a:r>
          </a:p>
          <a:p>
            <a:pPr>
              <a:spcBef>
                <a:spcPts val="314"/>
              </a:spcBef>
            </a:pPr>
            <a:r>
              <a:rPr sz="1200" b="0">
                <a:solidFill>
                  <a:srgbClr val="1E293B"/>
                </a:solidFill>
              </a:rPr>
              <a:t>After: All clips processed concurrently with up to 3 workers (empirically determined cap)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28090"/>
                </a:solidFill>
                <a:latin typeface="Arial Black"/>
              </a:rPr>
              <a:t>Optimization 4: Networking &amp; Concurrency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3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330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Connection Pooling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0502"/>
            <a:ext cx="2926080" cy="10972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86221"/>
            <a:ext cx="276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</a:rPr>
              <a:t>New HTTP client per stage call
7+ TCP handshakes per pipeline
Connection setup overhead every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640502"/>
            <a:ext cx="731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28090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640502"/>
            <a:ext cx="3383280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86240" y="1686221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Single shared HTTP client
10 max connections, 5 keep-alive
Connections reused across all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210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Per-Request Locking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69302"/>
            <a:ext cx="2926080" cy="10972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515022"/>
            <a:ext cx="276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</a:rPr>
              <a:t>Single global lock for all requests
All requests serialize on one lock
Request A blocks Request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469302"/>
            <a:ext cx="731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2809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3469302"/>
            <a:ext cx="3383280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86240" y="351502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Dictionary of per-request locks
Only same-request stages block
Different requests run freely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856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65A82"/>
                </a:solidFill>
              </a:rPr>
              <a:t>Both changes reduce inter-request overhead without sacrificing thread safety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028090"/>
                </a:solidFill>
                <a:latin typeface="Arial Black"/>
              </a:rPr>
              <a:t>Optimization 5: Startup Warmup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</a:rPr>
              <a:t>Move expensive initialization from first-request to container boot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97280" cy="3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468880" cy="27432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200" y="1543040"/>
            <a:ext cx="2268880" cy="26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librosa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Speech Segmentation</a:t>
            </a:r>
          </a:p>
          <a:p>
            <a:pPr>
              <a:spcBef>
                <a:spcPts val="314"/>
              </a:spcBef>
            </a:pPr>
            <a:endParaRPr sz="1300" b="0">
              <a:solidFill>
                <a:srgbClr val="1E293B"/>
              </a:solidFill>
            </a:endParaRP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Problem: First call triggers lazy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imports and JIT compilation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(2-3x slower first request)</a:t>
            </a:r>
          </a:p>
          <a:p>
            <a:pPr>
              <a:spcBef>
                <a:spcPts val="314"/>
              </a:spcBef>
            </a:pPr>
            <a:endParaRPr sz="1300" b="0">
              <a:solidFill>
                <a:srgbClr val="1E293B"/>
              </a:solidFill>
            </a:endParaRP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Fix: Run on dummy audio at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container startup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463040"/>
            <a:ext cx="2468880" cy="27432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8960" y="1543040"/>
            <a:ext cx="2268880" cy="26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deepspeech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Transcription</a:t>
            </a:r>
          </a:p>
          <a:p>
            <a:pPr>
              <a:spcBef>
                <a:spcPts val="314"/>
              </a:spcBef>
            </a:pPr>
            <a:endParaRPr sz="1300" b="0">
              <a:solidFill>
                <a:srgbClr val="1E293B"/>
              </a:solidFill>
            </a:endParaRP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Problem: Loads ~180MB neural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network model + scorer on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first request only</a:t>
            </a:r>
          </a:p>
          <a:p>
            <a:pPr>
              <a:spcBef>
                <a:spcPts val="314"/>
              </a:spcBef>
            </a:pPr>
            <a:endParaRPr sz="1300" b="0">
              <a:solidFill>
                <a:srgbClr val="1E293B"/>
              </a:solidFill>
            </a:endParaRP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Fix: Load model + run dummy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inference at boot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463040"/>
            <a:ext cx="2468880" cy="2743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60720" y="1543040"/>
            <a:ext cx="2268880" cy="26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object-detector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YOLO Detection</a:t>
            </a:r>
          </a:p>
          <a:p>
            <a:pPr>
              <a:spcBef>
                <a:spcPts val="314"/>
              </a:spcBef>
            </a:pPr>
            <a:endParaRPr sz="1300" b="0">
              <a:solidFill>
                <a:srgbClr val="FFFFFF"/>
              </a:solidFill>
            </a:endParaRP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Problem: ONNX Runtime session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init + first inference allocates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buffers, compiles kernels</a:t>
            </a:r>
          </a:p>
          <a:p>
            <a:pPr>
              <a:spcBef>
                <a:spcPts val="314"/>
              </a:spcBef>
            </a:pPr>
            <a:endParaRPr sz="1300" b="0">
              <a:solidFill>
                <a:srgbClr val="FFFFFF"/>
              </a:solidFill>
            </a:endParaRP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Fix: Load model + dummy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inference at boot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65A82"/>
                </a:solidFill>
              </a:rPr>
              <a:t>Result: First real request is as fast as the 100th — no cold-start penalty within warm pods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28090"/>
                </a:solidFill>
                <a:latin typeface="Arial Black"/>
              </a:rPr>
              <a:t>RAM-Disk Backed 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</a:rPr>
              <a:t>Eliminating disk I/O bottleneck for artifact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97280" cy="3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2302" y="1096355"/>
            <a:ext cx="3657600" cy="18288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302" y="1176355"/>
            <a:ext cx="3457600" cy="17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Standard MinIO (Disk-Backed)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• Uses regular ephemeral storage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• Subject to disk I/O latency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• Bottleneck for frequent reads/writes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• Adequate for small workloads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35662" y="1096355"/>
            <a:ext cx="393192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5662" y="1176355"/>
            <a:ext cx="3731920" cy="17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RAM-Disk MinIO (Memory-Backed)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• Uses tmpfs (memory filesystem)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• 4 GiB allocated for storage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• Near-zero I/O latency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• Data lost on pod restart (OK for testing)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302" y="3199475"/>
            <a:ext cx="7955279" cy="12801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302" y="3279475"/>
            <a:ext cx="7755279" cy="11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Configuration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• Memory: 2 GiB request / 5 GiB limit (4 GiB data + 1 GiB process overhead)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• CPU: 500m request / 1000m limit  •  Ports: 9000 (API) + 9001 (Console)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• Deployment strategy: Recreate (no rolling update needed for benchmarks)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302" y="4753955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65A82"/>
                </a:solidFill>
              </a:rPr>
              <a:t>Impact: Eliminates disk I/O as a bottleneck — artifact uploads/downloads at memory speed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695" y="3647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28090"/>
                </a:solidFill>
                <a:latin typeface="Arial Black"/>
              </a:rPr>
              <a:t>Automated Video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5695" y="58511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</a:rPr>
              <a:t>Fetch from dataset sources and upload to MinIO — no manual uploads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5695" y="950870"/>
            <a:ext cx="1097280" cy="3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5426" y="835381"/>
            <a:ext cx="7772400" cy="8229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426" y="915381"/>
            <a:ext cx="7572400" cy="7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1. Source Loading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Read video URLs from CSV dataset file (name, URL, description, size)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35426" y="1841221"/>
            <a:ext cx="7772400" cy="8229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426" y="1921221"/>
            <a:ext cx="7572400" cy="7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2. Smart Download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Stream in 1MB chunks with progress tracking, 300s timeout, skip if already exists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5426" y="2847061"/>
            <a:ext cx="7772400" cy="8229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426" y="2927061"/>
            <a:ext cx="7572400" cy="7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3. MinIO Upload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Upload to S3-compatible storage with proper content type and path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5426" y="3852901"/>
            <a:ext cx="777240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426" y="3932901"/>
            <a:ext cx="7572400" cy="7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4. Test Generation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Output CSV with S3 URIs ready for JMeter load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426" y="4858741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</a:rPr>
              <a:t>Features: --limit N (cap videos) • --force (re-download) • --dry-run (preview) • --skip-ingest (use existing)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2033" y="-1968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28090"/>
                </a:solidFill>
                <a:latin typeface="Arial Black"/>
              </a:rPr>
              <a:t>Minimal Dockerfiles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2033" y="528951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</a:rPr>
              <a:t>Per-function containers built on shared optimized base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2033" y="894711"/>
            <a:ext cx="1097280" cy="3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2033" y="1077591"/>
            <a:ext cx="7955279" cy="1280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2033" y="1157591"/>
            <a:ext cx="7755279" cy="11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Shared Base Image (fave-base:dev)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• Python 3.9-slim with ffmpeg, OpenCV, audio libraries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• Single-threaded BLAS/MKL to prevent contention in serverless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• Common utilities shared across all functions via PYTHONPATH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033" y="2540631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Per-Function Containers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2033" y="2906391"/>
            <a:ext cx="2560320" cy="10058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033" y="2986391"/>
            <a:ext cx="2360320" cy="9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orchestrator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Workflow coordination
120s timeout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5233" y="2906391"/>
            <a:ext cx="2560320" cy="10058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5233" y="2986391"/>
            <a:ext cx="2360320" cy="9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ffmpeg-0,1,3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Video processing
120s timeout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28433" y="2906391"/>
            <a:ext cx="2560320" cy="10058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8433" y="2986391"/>
            <a:ext cx="2360320" cy="9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ffmpeg-2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Stream copy
120s timeout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2033" y="4095111"/>
            <a:ext cx="2560320" cy="10058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033" y="4175111"/>
            <a:ext cx="2360320" cy="9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librosa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Speech segmentation
120s timeout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5233" y="4095111"/>
            <a:ext cx="2560320" cy="10058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5233" y="4175111"/>
            <a:ext cx="2360320" cy="9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deepspeech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Transcription
300s timeout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28433" y="4095111"/>
            <a:ext cx="2560320" cy="10058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8433" y="4175111"/>
            <a:ext cx="2360320" cy="9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obj-detector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YOLO detection
120s timeout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</a:rPr>
              <a:t>All use OpenFaaS watchdog v0.9.11 in HTTP mode — multi-stage build keeps images minimal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9626" y="132"/>
            <a:ext cx="77724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028090"/>
                </a:solidFill>
                <a:latin typeface="Arial Black"/>
              </a:rPr>
              <a:t>Grafana Monitoring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9626" y="46948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</a:rPr>
              <a:t>24-panel pre-provisioned dashboard with 5-second refresh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626" y="835249"/>
            <a:ext cx="1097280" cy="3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9626" y="730727"/>
            <a:ext cx="3657600" cy="13716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626" y="810727"/>
            <a:ext cx="3457600" cy="12311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Live Metrics (7 panels)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• </a:t>
            </a:r>
            <a:r>
              <a:rPr sz="1100" b="0">
                <a:solidFill>
                  <a:srgbClr val="1E293B"/>
                </a:solidFill>
              </a:rPr>
              <a:t>Function invocation rate (per minute)</a:t>
            </a:r>
            <a:endParaRPr sz="1100" b="0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spcBef>
                <a:spcPts val="314"/>
              </a:spcBef>
            </a:pPr>
            <a:r>
              <a:rPr sz="1100" b="0">
                <a:solidFill>
                  <a:srgbClr val="1E293B"/>
                </a:solidFill>
              </a:rPr>
              <a:t>• Latency percentiles (P50, P90, P99)</a:t>
            </a:r>
            <a:endParaRPr sz="1100" b="0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spcBef>
                <a:spcPts val="314"/>
              </a:spcBef>
            </a:pPr>
            <a:r>
              <a:rPr sz="1100" b="0">
                <a:solidFill>
                  <a:srgbClr val="1E293B"/>
                </a:solidFill>
              </a:rPr>
              <a:t>• Total invocations, success rate gauge</a:t>
            </a:r>
            <a:endParaRPr sz="1100" b="0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spcBef>
                <a:spcPts val="314"/>
              </a:spcBef>
            </a:pPr>
            <a:r>
              <a:rPr sz="1100" b="0">
                <a:solidFill>
                  <a:srgbClr val="1E293B"/>
                </a:solidFill>
              </a:rPr>
              <a:t>• Active replicas, requests in-flight</a:t>
            </a:r>
            <a:endParaRPr sz="1100" b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62986" y="730727"/>
            <a:ext cx="3931920" cy="1371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62986" y="810727"/>
            <a:ext cx="3731920" cy="10233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Cold vs. Warm Analysis (3 panels)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• </a:t>
            </a:r>
            <a:r>
              <a:rPr sz="1100" b="0">
                <a:solidFill>
                  <a:srgbClr val="FFFFFF"/>
                </a:solidFill>
              </a:rPr>
              <a:t>Cold start detection (P99 thresholds)</a:t>
            </a:r>
            <a:endParaRPr sz="1100" b="0">
              <a:solidFill>
                <a:srgbClr val="FFFFFF"/>
              </a:solidFill>
              <a:ea typeface="Calibri"/>
              <a:cs typeface="Calibri"/>
            </a:endParaRPr>
          </a:p>
          <a:p>
            <a:pPr>
              <a:spcBef>
                <a:spcPts val="314"/>
              </a:spcBef>
            </a:pPr>
            <a:r>
              <a:rPr sz="1100" b="0">
                <a:solidFill>
                  <a:srgbClr val="FFFFFF"/>
                </a:solidFill>
              </a:rPr>
              <a:t>• Latency distribution histogram</a:t>
            </a:r>
            <a:endParaRPr sz="1100" b="0">
              <a:solidFill>
                <a:srgbClr val="FFFFFF"/>
              </a:solidFill>
              <a:ea typeface="Calibri"/>
              <a:cs typeface="Calibri"/>
            </a:endParaRPr>
          </a:p>
          <a:p>
            <a:pPr>
              <a:spcBef>
                <a:spcPts val="314"/>
              </a:spcBef>
            </a:pPr>
            <a:r>
              <a:rPr sz="1100" b="0">
                <a:solidFill>
                  <a:srgbClr val="FFFFFF"/>
                </a:solidFill>
              </a:rPr>
              <a:t>• Replica scaling events timeline</a:t>
            </a:r>
            <a:endParaRPr sz="1100" b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9626" y="2376647"/>
            <a:ext cx="3657600" cy="13716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626" y="2377364"/>
            <a:ext cx="3457600" cy="14388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Cost &amp; Resource (5 panels)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• </a:t>
            </a:r>
            <a:r>
              <a:rPr sz="1100" b="0">
                <a:solidFill>
                  <a:srgbClr val="1E293B"/>
                </a:solidFill>
              </a:rPr>
              <a:t>Estimated cost units (cumulative)</a:t>
            </a:r>
            <a:endParaRPr sz="1100" b="0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spcBef>
                <a:spcPts val="314"/>
              </a:spcBef>
            </a:pPr>
            <a:r>
              <a:rPr sz="1100" b="0">
                <a:solidFill>
                  <a:srgbClr val="1E293B"/>
                </a:solidFill>
              </a:rPr>
              <a:t>• Cost rate per function (bar chart)</a:t>
            </a:r>
            <a:endParaRPr sz="1100" b="0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spcBef>
                <a:spcPts val="314"/>
              </a:spcBef>
            </a:pPr>
            <a:r>
              <a:rPr sz="1100" b="0">
                <a:solidFill>
                  <a:srgbClr val="1E293B"/>
                </a:solidFill>
              </a:rPr>
              <a:t>• Function duration breakdown (pie)</a:t>
            </a:r>
            <a:endParaRPr sz="1100" b="0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spcBef>
                <a:spcPts val="314"/>
              </a:spcBef>
            </a:pPr>
            <a:r>
              <a:rPr sz="1100" b="0">
                <a:solidFill>
                  <a:srgbClr val="1E293B"/>
                </a:solidFill>
              </a:rPr>
              <a:t>• Invocations distribution (donut)</a:t>
            </a:r>
            <a:endParaRPr sz="1100" b="0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spcBef>
                <a:spcPts val="314"/>
              </a:spcBef>
            </a:pPr>
            <a:r>
              <a:rPr sz="1100" b="0">
                <a:solidFill>
                  <a:srgbClr val="1E293B"/>
                </a:solidFill>
              </a:rPr>
              <a:t>• Error rate by function (line chart)</a:t>
            </a:r>
            <a:endParaRPr sz="1100" b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62986" y="2376647"/>
            <a:ext cx="3931920" cy="13716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2986" y="2456647"/>
            <a:ext cx="3731920" cy="12311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Configuration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•</a:t>
            </a:r>
            <a:r>
              <a:rPr sz="1100" b="0">
                <a:solidFill>
                  <a:srgbClr val="1E293B"/>
                </a:solidFill>
              </a:rPr>
              <a:t> Grafana 10.2.0 with anonymous access</a:t>
            </a:r>
            <a:endParaRPr sz="1100" b="0" dirty="0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spcBef>
                <a:spcPts val="314"/>
              </a:spcBef>
            </a:pPr>
            <a:r>
              <a:rPr sz="1100" b="0">
                <a:solidFill>
                  <a:srgbClr val="1E293B"/>
                </a:solidFill>
              </a:rPr>
              <a:t>• Prometheus data source (auto-provisioned)</a:t>
            </a:r>
            <a:endParaRPr sz="1100" b="0" dirty="0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spcBef>
                <a:spcPts val="314"/>
              </a:spcBef>
            </a:pPr>
            <a:r>
              <a:rPr sz="1100" b="0" dirty="0">
                <a:solidFill>
                  <a:srgbClr val="1E293B"/>
                </a:solidFill>
              </a:rPr>
              <a:t>• Dashboard auto-loaded via </a:t>
            </a:r>
            <a:r>
              <a:rPr sz="1100" b="0" dirty="0" err="1">
                <a:solidFill>
                  <a:srgbClr val="1E293B"/>
                </a:solidFill>
              </a:rPr>
              <a:t>ConfigMap</a:t>
            </a:r>
            <a:endParaRPr sz="1100" b="0" dirty="0" err="1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spcBef>
                <a:spcPts val="314"/>
              </a:spcBef>
            </a:pPr>
            <a:r>
              <a:rPr sz="1100" b="0">
                <a:solidFill>
                  <a:srgbClr val="1E293B"/>
                </a:solidFill>
              </a:rPr>
              <a:t>• Accessible at localhost:3000</a:t>
            </a:r>
            <a:endParaRPr sz="1100" b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9626" y="4022567"/>
            <a:ext cx="2560320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9626" y="4072567"/>
            <a:ext cx="25603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626" y="4472567"/>
            <a:ext cx="25603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Dashboard Panels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4266" y="4022567"/>
            <a:ext cx="2560320" cy="914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74266" y="4072567"/>
            <a:ext cx="25603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5s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4266" y="4472567"/>
            <a:ext cx="25603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Refresh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8906" y="4022567"/>
            <a:ext cx="2286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08906" y="4072567"/>
            <a:ext cx="228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906" y="4472567"/>
            <a:ext cx="228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Stages Monitored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28090"/>
                </a:solidFill>
                <a:latin typeface="Arial Black"/>
              </a:rPr>
              <a:t>Infrastructure &amp;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67697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</a:rPr>
              <a:t>One-command setup and teardown for the entire FAVE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55247" y="1043367"/>
            <a:ext cx="1097280" cy="3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2033" y="901450"/>
            <a:ext cx="7955279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2033" y="981450"/>
            <a:ext cx="7755279" cy="9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Setup (setup.sh)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Install OpenFaaS + Prometheus → Deploy MinIO → Deploy Grafana → Port-forward → Create secrets → Build images → Deploy functions → Ingest videos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2033" y="2181610"/>
            <a:ext cx="7955279" cy="10972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033" y="2261610"/>
            <a:ext cx="7755279" cy="9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Load Testing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JMeter CLI with warm-steady and cold-burst scenarios, configurable threads/ramp/loops, automatic result conversion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2033" y="3461770"/>
            <a:ext cx="7955279" cy="10972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033" y="3541770"/>
            <a:ext cx="7755279" cy="9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Teardown (teardown.sh)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Remove all deployments, services, and port-forwards in correct order — clean slate for next run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28090"/>
                </a:solidFill>
                <a:latin typeface="Arial Black"/>
              </a:rPr>
              <a:t>Optimized Experimental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3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2033" y="747245"/>
            <a:ext cx="2560320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2033" y="797245"/>
            <a:ext cx="25603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2.4s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033" y="1197245"/>
            <a:ext cx="25603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Single-Request Warm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6673" y="747245"/>
            <a:ext cx="2560320" cy="1097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76673" y="797245"/>
            <a:ext cx="25603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14.2s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6673" y="1197245"/>
            <a:ext cx="25603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5-Concurrent Warm Avg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1313" y="747245"/>
            <a:ext cx="2286000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1313" y="797245"/>
            <a:ext cx="228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15.4s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1313" y="1197245"/>
            <a:ext cx="228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5-Concurrent Cold Avg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2033" y="2118845"/>
            <a:ext cx="3657600" cy="16459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033" y="2198844"/>
            <a:ext cx="3457600" cy="15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Single-Request Breakdown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ffmpeg-0 (audio extraction): 649ms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librosa (speech segmentation): 483ms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ffmpeg-1 (clip cutting): 196ms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Total end-to-end: 2.4s (warm)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65393" y="2118845"/>
            <a:ext cx="3931920" cy="16459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5393" y="2198844"/>
            <a:ext cx="3731920" cy="15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JMeter Concurrent (5 Threads)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Warm: 4.9s-23.0s range, avg 14.2s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Cold: 6.4s-23.7s range, avg 15.4s (+8%)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100% success rate across all regimes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1E293B"/>
                </a:solidFill>
              </a:rPr>
              <a:t>Single-node CPU contention drives 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2033" y="4039085"/>
            <a:ext cx="7955279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033" y="4119084"/>
            <a:ext cx="7755279" cy="6078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Multi-Node Projection</a:t>
            </a:r>
          </a:p>
          <a:p>
            <a:pPr>
              <a:spcBef>
                <a:spcPts val="314"/>
              </a:spcBef>
            </a:pPr>
            <a:r>
              <a:rPr sz="1300" b="0">
                <a:solidFill>
                  <a:srgbClr val="FFFFFF"/>
                </a:solidFill>
              </a:rPr>
              <a:t>With dedicated resources per pipeline: ~2.4s per request (no CPU contention)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28090"/>
                </a:solidFill>
                <a:latin typeface="Arial Black"/>
              </a:rPr>
              <a:t>Project Achievements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005840"/>
            <a:ext cx="1371600" cy="3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01186" y="865112"/>
            <a:ext cx="6858000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4066" y="9251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100% Success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4066" y="12451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Stable production-ready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901186" y="1870952"/>
            <a:ext cx="6858000" cy="7772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4066" y="19309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8-Stage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066" y="22509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</a:rPr>
              <a:t>Fully modular &amp; scalable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186" y="2876792"/>
            <a:ext cx="6858000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4066" y="293679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2.4s Warm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4066" y="325679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Optimized single-request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1186" y="3882632"/>
            <a:ext cx="6858000" cy="7772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4066" y="39426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28090"/>
                </a:solidFill>
              </a:rPr>
              <a:t>24-Panel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4066" y="42626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</a:rPr>
              <a:t>Complete observability &amp;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86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5A82"/>
                </a:solidFill>
              </a:rPr>
              <a:t>Comprehensive solution for serverless video analysis at scale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28090"/>
                </a:solidFill>
              </a:rPr>
              <a:t>Kubernetes HPA Autoscaling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</a:rPr>
              <a:t>Standard K8s Horizontal Pod Autoscaler replacing manual kubectl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840000" cy="19200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200" y="1421600"/>
            <a:ext cx="36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28090"/>
                </a:solidFill>
              </a:rPr>
              <a:t>Before: Manual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200" y="1721600"/>
            <a:ext cx="364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• Manual kubectl scale --replicas=N</a:t>
            </a:r>
          </a:p>
          <a:p>
            <a:r>
              <a:rPr sz="1300">
                <a:solidFill>
                  <a:srgbClr val="1E293B"/>
                </a:solidFill>
              </a:rPr>
              <a:t>• No resource requests on pods</a:t>
            </a:r>
          </a:p>
          <a:p>
            <a:r>
              <a:rPr sz="1300">
                <a:solidFill>
                  <a:srgbClr val="1E293B"/>
                </a:solidFill>
              </a:rPr>
              <a:t>• No automatic response to load</a:t>
            </a:r>
          </a:p>
          <a:p>
            <a:r>
              <a:rPr sz="1300">
                <a:solidFill>
                  <a:srgbClr val="1E293B"/>
                </a:solidFill>
              </a:rPr>
              <a:t>• OpenFaaS CE lacks built-in autoscaler</a:t>
            </a:r>
          </a:p>
          <a:p>
            <a:r>
              <a:rPr sz="1300">
                <a:solidFill>
                  <a:srgbClr val="1E293B"/>
                </a:solidFill>
              </a:rPr>
              <a:t>• Pods stay at fixed replica count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371600"/>
            <a:ext cx="4114800" cy="19200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2000" y="1421600"/>
            <a:ext cx="39148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28090"/>
                </a:solidFill>
              </a:rPr>
              <a:t>After: HPA Autoscaling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2000" y="1721600"/>
            <a:ext cx="39148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• autoscaling/v2 API (K8s standard)</a:t>
            </a:r>
          </a:p>
          <a:p>
            <a:r>
              <a:rPr sz="1300">
                <a:solidFill>
                  <a:srgbClr val="1E293B"/>
                </a:solidFill>
              </a:rPr>
              <a:t>• CPU resource requests on all 8 pods</a:t>
            </a:r>
          </a:p>
          <a:p>
            <a:r>
              <a:rPr sz="1300">
                <a:solidFill>
                  <a:srgbClr val="1E293B"/>
                </a:solidFill>
              </a:rPr>
              <a:t>• Target: 60% CPU utilization</a:t>
            </a:r>
          </a:p>
          <a:p>
            <a:r>
              <a:rPr sz="1300">
                <a:solidFill>
                  <a:srgbClr val="1E293B"/>
                </a:solidFill>
              </a:rPr>
              <a:t>• Min 1 / Max 10 replicas per function</a:t>
            </a:r>
          </a:p>
          <a:p>
            <a:r>
              <a:rPr sz="1300">
                <a:solidFill>
                  <a:srgbClr val="1E293B"/>
                </a:solidFill>
              </a:rPr>
              <a:t>• metrics-server for real-time metrics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764" y="3520000"/>
            <a:ext cx="256032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764" y="3570000"/>
            <a:ext cx="25603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8 → 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764" y="3970000"/>
            <a:ext cx="25603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FBF1"/>
                </a:solidFill>
              </a:rPr>
              <a:t>Pod Auto-Scaling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6404" y="3520000"/>
            <a:ext cx="256032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6404" y="3570000"/>
            <a:ext cx="25603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6404" y="3970000"/>
            <a:ext cx="25603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FBF1"/>
                </a:solidFill>
              </a:rPr>
              <a:t>CPU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1044" y="3520000"/>
            <a:ext cx="2286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1044" y="3570000"/>
            <a:ext cx="228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1044" y="3970000"/>
            <a:ext cx="228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FBF1"/>
                </a:solidFill>
              </a:rPr>
              <a:t>HPAs Deployed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28090"/>
                </a:solidFill>
              </a:rPr>
              <a:t>Multi-Node Cluster Testing (GKE)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</a:rPr>
              <a:t>3-node GKE cluster (e2-standard-4) with HPA enabled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200" y="1330160"/>
            <a:ext cx="80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28090"/>
                </a:solidFill>
              </a:rPr>
              <a:t>GKE Scaling Experiment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200" y="16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Threads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7200" y="16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Success%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7200" y="16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Avg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7200" y="16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P95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7200" y="16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Pods Scaled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200" y="19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200" y="19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7200" y="19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27.0s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7200" y="19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44.9s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7200" y="19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8 → 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200" y="226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7200" y="226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7200" y="226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21.8s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7200" y="226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37.1s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7200" y="226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23 → 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200" y="254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7200" y="254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57200" y="254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20.2s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7200" y="254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35.2s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7200" y="254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200" y="282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57200" y="282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57200" y="282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20.0s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7200" y="282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33.9s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57200" y="282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28 → 35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20000"/>
            <a:ext cx="8229600" cy="12800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200" y="3570000"/>
            <a:ext cx="80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28090"/>
                </a:solidFill>
              </a:rPr>
              <a:t>Key Observations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200" y="3870000"/>
            <a:ext cx="8029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• HPA scaled pods from 8 to 35 across 3 nodes with zero manual intervention</a:t>
            </a:r>
          </a:p>
          <a:p>
            <a:r>
              <a:rPr sz="1300">
                <a:solidFill>
                  <a:srgbClr val="1E293B"/>
                </a:solidFill>
              </a:rPr>
              <a:t>• Latency improved under load: 27s → 20s as HPA added capacity</a:t>
            </a:r>
          </a:p>
          <a:p>
            <a:r>
              <a:rPr sz="1300">
                <a:solidFill>
                  <a:srgbClr val="1E293B"/>
                </a:solidFill>
              </a:rPr>
              <a:t>• 100% success rate up to 20 threads (vs 40% on single-node Docker Desktop)</a:t>
            </a:r>
          </a:p>
          <a:p>
            <a:r>
              <a:rPr sz="1300">
                <a:solidFill>
                  <a:srgbClr val="1E293B"/>
                </a:solidFill>
              </a:rPr>
              <a:t>• Bottleneck: stage-object-detector hit 1599% CPU, maxing at 10 replicas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28090"/>
                </a:solidFill>
              </a:rPr>
              <a:t>VM Server Deployment (MicroK8s)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</a:rPr>
              <a:t>University VM with MicroK8s, HPA, and local registry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200" y="1330160"/>
            <a:ext cx="80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28090"/>
                </a:solidFill>
              </a:rPr>
              <a:t>VM Scaling Experiment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200" y="16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Threads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7200" y="16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Success%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7200" y="16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Avg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7200" y="16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Min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7200" y="16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Pods Scaled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200" y="19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200" y="19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7200" y="19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10.9s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7200" y="19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3.3s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7200" y="198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8 → 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200" y="226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7200" y="226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7200" y="226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5.9s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7200" y="226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0.8s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7200" y="226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200" y="254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7200" y="254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57200" y="254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7.3s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7200" y="254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3.2s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7200" y="254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200" y="282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57200" y="282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57200" y="282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10.2s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7200" y="282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2.9s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57200" y="2820160"/>
            <a:ext cx="1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29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764" y="3520000"/>
            <a:ext cx="256032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764" y="3570000"/>
            <a:ext cx="25603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2.9s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764" y="3970000"/>
            <a:ext cx="25603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FBF1"/>
                </a:solidFill>
              </a:rPr>
              <a:t>Min Latency (50t)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6404" y="3520000"/>
            <a:ext cx="256032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6404" y="3570000"/>
            <a:ext cx="25603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6404" y="3970000"/>
            <a:ext cx="25603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FBF1"/>
                </a:solidFill>
              </a:rPr>
              <a:t>Max Pods Scaled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1044" y="3520000"/>
            <a:ext cx="2286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1044" y="3570000"/>
            <a:ext cx="228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1044" y="3970000"/>
            <a:ext cx="228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FBF1"/>
                </a:solidFill>
              </a:rPr>
              <a:t>Success at 50t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28090"/>
                </a:solidFill>
              </a:rPr>
              <a:t>Autoscaling Impact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</a:rPr>
              <a:t>How K8s HPA transformed pipeline scalability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4023360" cy="13716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200" y="1451600"/>
            <a:ext cx="38233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8090"/>
                </a:solidFill>
              </a:rPr>
              <a:t>Latency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200" y="1751600"/>
            <a:ext cx="382336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Average response time dropped from 27s to 20s as HPA scaled pods to meet demand. Min latency of 2.9s achieved on VM.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371600"/>
            <a:ext cx="4023360" cy="13716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4880" y="1451600"/>
            <a:ext cx="38233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8090"/>
                </a:solidFill>
              </a:rPr>
              <a:t>High 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4880" y="1751600"/>
            <a:ext cx="382336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100% success rate up to 20 concurrent threads on GKE (vs 40% without HPA on single node Docker Desktop).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4023360" cy="13716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200" y="3006080"/>
            <a:ext cx="38233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8090"/>
                </a:solidFill>
              </a:rPr>
              <a:t>Automatic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200" y="3306080"/>
            <a:ext cx="382336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Pods scaled from 8 to 35 with zero manual intervention. HPA responded to CPU spikes within 30 seconds.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926080"/>
            <a:ext cx="4023360" cy="13716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4880" y="3006080"/>
            <a:ext cx="38233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8090"/>
                </a:solidFill>
              </a:rPr>
              <a:t>Bottleneck Identified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4880" y="3306080"/>
            <a:ext cx="382336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stage-object-detector (ONNX inference) consistently hit max replicas first, reaching 1599% CPU utilization.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28090"/>
                </a:solidFill>
              </a:rPr>
              <a:t>K8s HPA provides production-grade autoscaling for serverless video processing pipelines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FAVE: FaaS-Agent Video Explorer</dc:title>
  <dc:subject>PptxGenJS Presentation</dc:subject>
  <dc:creator>FAVE Project Team</dc:creator>
  <cp:lastModifiedBy>FAVE Project Team</cp:lastModifiedBy>
  <cp:revision>50</cp:revision>
  <dcterms:created xsi:type="dcterms:W3CDTF">2026-02-05T17:48:04Z</dcterms:created>
  <dcterms:modified xsi:type="dcterms:W3CDTF">2026-03-11T11:35:28Z</dcterms:modified>
</cp:coreProperties>
</file>